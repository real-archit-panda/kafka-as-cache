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9198A1"/>
                </a:solidFill>
                <a:latin typeface="Segoe UI"/>
              </a:rPr>
              <a:t>● Distributed Systems ·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APACHE KAFKA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E6EDF3"/>
                </a:solidFill>
                <a:latin typeface="Segoe UI"/>
              </a:rPr>
              <a:t>Kafka as a Cache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9F1C"/>
                </a:solidFill>
                <a:latin typeface="Segoe UI"/>
              </a:rPr>
              <a:t>A distributed key–value store, without Redis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9198A1"/>
                </a:solidFill>
                <a:latin typeface="Segoe UI"/>
              </a:rPr>
              <a:t>How log compaction and Kafka Streams turn an event log into a fast, replicated, fault-tolerant key–value cache — built and dissected end to 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12080"/>
            <a:ext cx="512064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E6EDF3"/>
                </a:solidFill>
                <a:latin typeface="Segoe UI"/>
              </a:rPr>
              <a:t>Spring Boot + Kafka Streams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9198A1"/>
                </a:solidFill>
                <a:latin typeface="Segoe UI"/>
              </a:rPr>
              <a:t>KTable · RocksDB · Compacted Topics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5212080"/>
            <a:ext cx="512064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530352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E6EDF3"/>
                </a:solidFill>
                <a:latin typeface="Segoe UI"/>
              </a:rPr>
              <a:t>Built &amp; Verified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9198A1"/>
                </a:solidFill>
                <a:latin typeface="Segoe UI"/>
              </a:rPr>
              <a:t>15 automated tests, incl. crash survival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E6EDF3"/>
                </a:solidFill>
                <a:latin typeface="Segoe UI"/>
              </a:rPr>
              <a:t>Popular ways to cache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12080" cy="2057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993391"/>
            <a:ext cx="146304" cy="146304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0195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E6EDF3"/>
                </a:solidFill>
                <a:latin typeface="Segoe UI"/>
              </a:rPr>
              <a:t>In-App (In-Memory) 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4800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9198A1"/>
                </a:solidFill>
                <a:latin typeface="Segoe UI"/>
              </a:rPr>
              <a:t>A map inside the app process (Caffeine, Guava, HashMap). Fastest reads — no network. But it dies with the process and each instance has its own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9198A1"/>
                </a:solidFill>
                <a:latin typeface="Segoe UI"/>
              </a:rPr>
              <a:t>Fast · Local · Not shared · Volatile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212080" cy="2057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993391"/>
            <a:ext cx="146304" cy="146304"/>
          </a:xfrm>
          <a:prstGeom prst="ellipse">
            <a:avLst/>
          </a:prstGeom>
          <a:solidFill>
            <a:srgbClr val="DB6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90195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E6EDF3"/>
                </a:solidFill>
                <a:latin typeface="Segoe UI"/>
              </a:rPr>
              <a:t>Distributed Cache (Redis / Memcached)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39"/>
            <a:ext cx="4800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9198A1"/>
                </a:solidFill>
                <a:latin typeface="Segoe UI"/>
              </a:rPr>
              <a:t>A dedicated cache server all instances share over the network. Consistent, survives restarts, scales independently — but it's extra infrastructure.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42900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9198A1"/>
                </a:solidFill>
                <a:latin typeface="Segoe UI"/>
              </a:rPr>
              <a:t>Shared · Network hop · Extra infra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77639"/>
            <a:ext cx="5212080" cy="2057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4233672"/>
            <a:ext cx="146304" cy="146304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42231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E6EDF3"/>
                </a:solidFill>
                <a:latin typeface="Segoe UI"/>
              </a:rPr>
              <a:t>CDN / Edge 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17720"/>
            <a:ext cx="4800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9198A1"/>
                </a:solidFill>
                <a:latin typeface="Segoe UI"/>
              </a:rPr>
              <a:t>Caches responses near users at edge locations (CloudFront, Cloudflare). Great for static assets and read-heavy HTTP; keyed by URL, not app state.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79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9198A1"/>
                </a:solidFill>
                <a:latin typeface="Segoe UI"/>
              </a:rPr>
              <a:t>Geo-distributed · HTTP · Read-heavy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977639"/>
            <a:ext cx="5212080" cy="2057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60" y="4233672"/>
            <a:ext cx="146304" cy="146304"/>
          </a:xfrm>
          <a:prstGeom prst="ellipse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142231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E6EDF3"/>
                </a:solidFill>
                <a:latin typeface="Segoe UI"/>
              </a:rPr>
              <a:t>Database / Query-Result 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617720"/>
            <a:ext cx="4800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9198A1"/>
                </a:solidFill>
                <a:latin typeface="Segoe UI"/>
              </a:rPr>
              <a:t>Caching at or in front of the DB — materialized views, query caches, read-through layers. Reduces DB load; invalidation is the hard part.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669279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9198A1"/>
                </a:solidFill>
                <a:latin typeface="Segoe UI"/>
              </a:rPr>
              <a:t>Read-through · Reduces DB load · Invalidation tricky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THE CASE AGAINST REACHING FOR REDIS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E6EDF3"/>
                </a:solidFill>
                <a:latin typeface="Segoe UI"/>
              </a:rPr>
              <a:t>Redis is great — but not free, and not always the right fit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20440" cy="3291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385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E6EDF3"/>
                </a:solidFill>
                <a:latin typeface="Segoe UI"/>
              </a:rPr>
              <a:t>🏗️ Operational overhead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514600"/>
            <a:ext cx="32004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9198A1"/>
                </a:solidFill>
                <a:latin typeface="Segoe UI"/>
              </a:rPr>
              <a:t>Another system to deploy, monitor, patch and upgrade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9198A1"/>
                </a:solidFill>
                <a:latin typeface="Segoe UI"/>
              </a:rPr>
              <a:t>HA needs replicas + Sentinel / Cluster — real ops burden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9198A1"/>
                </a:solidFill>
                <a:latin typeface="Segoe UI"/>
              </a:rPr>
              <a:t>One more thing that can page you at 3am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83080"/>
            <a:ext cx="3520440" cy="3291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9385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E6EDF3"/>
                </a:solidFill>
                <a:latin typeface="Segoe UI"/>
              </a:rPr>
              <a:t>💸 Cost &amp; footprint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514600"/>
            <a:ext cx="32004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9198A1"/>
                </a:solidFill>
                <a:latin typeface="Segoe UI"/>
              </a:rPr>
              <a:t>Redis is RAM-resident — the most expensive storage tier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9198A1"/>
                </a:solidFill>
                <a:latin typeface="Segoe UI"/>
              </a:rPr>
              <a:t>Managed Redis is billed per node, per hour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9198A1"/>
                </a:solidFill>
                <a:latin typeface="Segoe UI"/>
              </a:rPr>
              <a:t>Growing the dataset means scaling the most expensive resource (RAM)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9198A1"/>
                </a:solidFill>
                <a:latin typeface="Segoe UI"/>
              </a:rPr>
              <a:t>RAM is fast — but not every workload needs sub-ms reads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520440" cy="3291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385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E6EDF3"/>
                </a:solidFill>
                <a:latin typeface="Segoe UI"/>
              </a:rPr>
              <a:t>🔗 Consistency &amp; coupling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514600"/>
            <a:ext cx="32004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9198A1"/>
                </a:solidFill>
                <a:latin typeface="Segoe UI"/>
              </a:rPr>
              <a:t>Cache invalidation — the classic hard problem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9198A1"/>
                </a:solidFill>
                <a:latin typeface="Segoe UI"/>
              </a:rPr>
              <a:t>Two sources of truth (DB + cache) to keep in sync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9198A1"/>
                </a:solidFill>
                <a:latin typeface="Segoe UI"/>
              </a:rPr>
              <a:t>Durability is opt-in; a crash can lose recent writes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9198A1"/>
                </a:solidFill>
                <a:latin typeface="Segoe UI"/>
              </a:rPr>
              <a:t>Network hop + an extra failure mode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57800"/>
            <a:ext cx="10881360" cy="1280160"/>
          </a:xfrm>
          <a:prstGeom prst="roundRect">
            <a:avLst/>
          </a:prstGeom>
          <a:solidFill>
            <a:srgbClr val="1C2430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E6EDF3"/>
                </a:solidFill>
                <a:latin typeface="Segoe UI"/>
              </a:rPr>
              <a:t>If you already run Kafka, </a:t>
            </a:r>
            <a:r>
              <a:rPr sz="1300" b="0" i="0">
                <a:solidFill>
                  <a:srgbClr val="9198A1"/>
                </a:solidFill>
                <a:latin typeface="Segoe UI"/>
              </a:rPr>
              <a:t>a cache can ride on infrastructure you already operate, secure and pay for — no new moving part, and the data is </a:t>
            </a:r>
            <a:r>
              <a:rPr sz="1300" b="1" i="0">
                <a:solidFill>
                  <a:srgbClr val="FF9F1C"/>
                </a:solidFill>
                <a:latin typeface="Segoe UI"/>
              </a:rPr>
              <a:t>durable &amp; replicated by default.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E6EDF3"/>
                </a:solidFill>
                <a:latin typeface="Segoe UI"/>
              </a:rPr>
              <a:t>Why Use Kafka as a Distributed Store?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12080" cy="1600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9F1C"/>
                </a:solidFill>
                <a:latin typeface="Segoe UI"/>
              </a:rPr>
              <a:t>1  No new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0008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9198A1"/>
                </a:solidFill>
                <a:latin typeface="Segoe UI"/>
              </a:rPr>
              <a:t>Already using Kafka? Adding a cache means zero new systems — the store is a library running inside your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212080" cy="1600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9F1C"/>
                </a:solidFill>
                <a:latin typeface="Segoe UI"/>
              </a:rPr>
              <a:t>2  Survives node failures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50008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9198A1"/>
                </a:solidFill>
                <a:latin typeface="Segoe UI"/>
              </a:rPr>
              <a:t>Kafka replicates every write across brokers. If a broker or your app crashes, nothing is lost — the cache is rebuilt from the 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5212080" cy="1600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9F1C"/>
                </a:solidFill>
                <a:latin typeface="Segoe UI"/>
              </a:rPr>
              <a:t>3  Scales horizontally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87368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9198A1"/>
                </a:solidFill>
                <a:latin typeface="Segoe UI"/>
              </a:rPr>
              <a:t>Add more partitions and instances. Kafka Streams splits the keyspace across them — each instance owns and serves its slice.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520440"/>
            <a:ext cx="5212080" cy="1600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6576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9F1C"/>
                </a:solidFill>
                <a:latin typeface="Segoe UI"/>
              </a:rPr>
              <a:t>4  History + latest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087368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9198A1"/>
                </a:solidFill>
                <a:latin typeface="Segoe UI"/>
              </a:rPr>
              <a:t>A compacted topic keeps the latest value per key, while the log still records every change. Current state AND the history behind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9198A1"/>
                </a:solidFill>
                <a:latin typeface="Segoe UI"/>
              </a:rPr>
              <a:t>WORKS ESPECIALLY WELL FOR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715000"/>
            <a:ext cx="2564892" cy="457200"/>
          </a:xfrm>
          <a:prstGeom prst="roundRect">
            <a:avLst/>
          </a:prstGeom>
          <a:solidFill>
            <a:srgbClr val="1C2430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779008"/>
            <a:ext cx="25648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Segoe UI"/>
              </a:rPr>
              <a:t>⚙️ Config &amp; feature flags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7852" y="5715000"/>
            <a:ext cx="1796795" cy="457200"/>
          </a:xfrm>
          <a:prstGeom prst="roundRect">
            <a:avLst/>
          </a:prstGeom>
          <a:solidFill>
            <a:srgbClr val="1C2430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7852" y="5779008"/>
            <a:ext cx="17967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Segoe UI"/>
              </a:rPr>
              <a:t>🔑 Session storage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67528" y="5715000"/>
            <a:ext cx="2660904" cy="457200"/>
          </a:xfrm>
          <a:prstGeom prst="roundRect">
            <a:avLst/>
          </a:prstGeom>
          <a:solidFill>
            <a:srgbClr val="1C2430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67528" y="5779008"/>
            <a:ext cx="26609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Segoe UI"/>
              </a:rPr>
              <a:t>⚡ Frequently-accessed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1312" y="5715000"/>
            <a:ext cx="2372868" cy="457200"/>
          </a:xfrm>
          <a:prstGeom prst="roundRect">
            <a:avLst/>
          </a:prstGeom>
          <a:solidFill>
            <a:srgbClr val="1C2430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5779008"/>
            <a:ext cx="23728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Segoe UI"/>
              </a:rPr>
              <a:t>🌐 Distributed app state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6355080"/>
            <a:ext cx="10881360" cy="384048"/>
          </a:xfrm>
          <a:prstGeom prst="roundRect">
            <a:avLst/>
          </a:prstGeom>
          <a:solidFill>
            <a:srgbClr val="1C2430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82512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F9F1C"/>
                </a:solidFill>
                <a:latin typeface="Segoe UI"/>
              </a:rPr>
              <a:t>Compacted topic: </a:t>
            </a:r>
            <a:r>
              <a:rPr sz="1100" b="0" i="0">
                <a:solidFill>
                  <a:srgbClr val="9198A1"/>
                </a:solidFill>
                <a:latin typeface="Segoe UI"/>
              </a:rPr>
              <a:t>keeps only the latest message per key forever — e.g. (user:123,"Alice") then (user:123,"Bob") ⇒ keeps only "Bob".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E6EDF3"/>
                </a:solidFill>
                <a:latin typeface="Segoe UI"/>
              </a:rPr>
              <a:t>The architecture: two paths, one source of truth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194560" cy="1005840"/>
          </a:xfrm>
          <a:prstGeom prst="roundRect">
            <a:avLst/>
          </a:prstGeom>
          <a:solidFill>
            <a:srgbClr val="121D2E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29968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E6EDF3"/>
                </a:solidFill>
                <a:latin typeface="Segoe UI"/>
              </a:rPr>
              <a:t>🖥️ Your App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9198A1"/>
                </a:solidFill>
                <a:latin typeface="Segoe UI"/>
              </a:rPr>
              <a:t>producer (write)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737360"/>
            <a:ext cx="3017520" cy="1371600"/>
          </a:xfrm>
          <a:prstGeom prst="roundRect">
            <a:avLst/>
          </a:prstGeom>
          <a:solidFill>
            <a:srgbClr val="241E12"/>
          </a:solidFill>
          <a:ln w="1905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47088"/>
            <a:ext cx="30175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FF9F1C"/>
                </a:solidFill>
                <a:latin typeface="Segoe UI"/>
              </a:rPr>
              <a:t>▤ Compacted Topic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9198A1"/>
                </a:solidFill>
                <a:latin typeface="Segoe UI"/>
              </a:rPr>
              <a:t>durable · replicated log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3FB950"/>
                </a:solidFill>
                <a:latin typeface="Segoe UI"/>
              </a:rPr>
              <a:t>◆ SOURCE OF TRUTH ◆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9198A1"/>
                </a:solidFill>
                <a:latin typeface="Segoe UI"/>
              </a:rPr>
              <a:t>on the broker's disk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566160"/>
            <a:ext cx="3017520" cy="868680"/>
          </a:xfrm>
          <a:prstGeom prst="roundRect">
            <a:avLst/>
          </a:prstGeom>
          <a:solidFill>
            <a:srgbClr val="122118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675887"/>
            <a:ext cx="3017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E6EDF3"/>
                </a:solidFill>
                <a:latin typeface="Segoe UI"/>
              </a:rPr>
              <a:t>⚙️ Kafka Streams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9198A1"/>
                </a:solidFill>
                <a:latin typeface="Segoe UI"/>
              </a:rPr>
              <a:t>consumes &amp; materializes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4709160"/>
            <a:ext cx="3017520" cy="914400"/>
          </a:xfrm>
          <a:prstGeom prst="roundRect">
            <a:avLst/>
          </a:prstGeom>
          <a:solidFill>
            <a:srgbClr val="22141E"/>
          </a:solidFill>
          <a:ln w="19050">
            <a:solidFill>
              <a:srgbClr val="DB61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818888"/>
            <a:ext cx="3017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E6EDF3"/>
                </a:solidFill>
                <a:latin typeface="Segoe UI"/>
              </a:rPr>
              <a:t>🗄️ Local RocksDB (KTable)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9198A1"/>
                </a:solidFill>
                <a:latin typeface="Segoe UI"/>
              </a:rPr>
              <a:t>indexed copy · in your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4617720"/>
            <a:ext cx="2194560" cy="1005840"/>
          </a:xfrm>
          <a:prstGeom prst="roundRect">
            <a:avLst/>
          </a:prstGeom>
          <a:solidFill>
            <a:srgbClr val="121D2E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4727448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E6EDF3"/>
                </a:solidFill>
                <a:latin typeface="Segoe UI"/>
              </a:rPr>
              <a:t>🖥️ Your App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9198A1"/>
                </a:solidFill>
                <a:latin typeface="Segoe UI"/>
              </a:rPr>
              <a:t>reader (get)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34640" y="2423160"/>
            <a:ext cx="1737360" cy="0"/>
          </a:xfrm>
          <a:prstGeom prst="bentConnector3">
            <a:avLst/>
          </a:prstGeom>
          <a:ln w="28575">
            <a:solidFill>
              <a:srgbClr val="58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834640" y="20574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8A6FF"/>
                </a:solidFill>
                <a:latin typeface="Segoe UI"/>
              </a:rPr>
              <a:t>send(key, value)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3108960"/>
            <a:ext cx="0" cy="457200"/>
          </a:xfrm>
          <a:prstGeom prst="bentConnector3">
            <a:avLst/>
          </a:prstGeom>
          <a:ln w="28575">
            <a:solidFill>
              <a:srgbClr val="3FB9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4434840"/>
            <a:ext cx="0" cy="274320"/>
          </a:xfrm>
          <a:prstGeom prst="bentConnector3">
            <a:avLst/>
          </a:prstGeom>
          <a:ln w="28575">
            <a:solidFill>
              <a:srgbClr val="DB61A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89520" y="5120640"/>
            <a:ext cx="1737360" cy="0"/>
          </a:xfrm>
          <a:prstGeom prst="bentConnector3">
            <a:avLst/>
          </a:prstGeom>
          <a:ln w="28575">
            <a:solidFill>
              <a:srgbClr val="DB61A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89520" y="47548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DB61A2"/>
                </a:solidFill>
                <a:latin typeface="Segoe UI"/>
              </a:rPr>
              <a:t>local get() — no network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06440"/>
            <a:ext cx="3520440" cy="868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806440"/>
            <a:ext cx="54864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58521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6EDF3"/>
                </a:solidFill>
                <a:latin typeface="Segoe UI"/>
              </a:rPr>
              <a:t>✏️ Write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614476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9198A1"/>
                </a:solidFill>
                <a:latin typeface="Segoe UI"/>
              </a:rPr>
              <a:t>put(key,value) produces to the topic — never writes RocksDB directly. Durable &amp; replicated before ack.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5806440"/>
            <a:ext cx="3520440" cy="868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5806440"/>
            <a:ext cx="54864" cy="868680"/>
          </a:xfrm>
          <a:prstGeom prst="rect">
            <a:avLst/>
          </a:prstGeom>
          <a:solidFill>
            <a:srgbClr val="DB6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58521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6EDF3"/>
                </a:solidFill>
                <a:latin typeface="Segoe UI"/>
              </a:rPr>
              <a:t>⚡ Read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614476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9198A1"/>
                </a:solidFill>
                <a:latin typeface="Segoe UI"/>
              </a:rPr>
              <a:t>get(key) reads local RocksDB Streams keeps in sync — in-process, no network hop.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06440"/>
            <a:ext cx="3520440" cy="868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5806440"/>
            <a:ext cx="54864" cy="868680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58521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6EDF3"/>
                </a:solidFill>
                <a:latin typeface="Segoe UI"/>
              </a:rPr>
              <a:t>⏳ The gotcha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614476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9198A1"/>
                </a:solidFill>
                <a:latin typeface="Segoe UI"/>
              </a:rPr>
              <a:t>producer → topic → Streams → RocksDB: not instantly readable. The eventual-consistency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E6EDF3"/>
                </a:solidFill>
                <a:latin typeface="Segoe UI"/>
              </a:rPr>
              <a:t>What happens when things crash?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9198A1"/>
                </a:solidFill>
                <a:latin typeface="Segoe UI"/>
              </a:rPr>
              <a:t>Because the </a:t>
            </a:r>
            <a:r>
              <a:rPr sz="1500" b="1" i="0">
                <a:solidFill>
                  <a:srgbClr val="FF9F1C"/>
                </a:solidFill>
                <a:latin typeface="Segoe UI"/>
              </a:rPr>
              <a:t>compacted topic is the source of truth</a:t>
            </a:r>
            <a:r>
              <a:rPr sz="1500" b="0" i="0">
                <a:solidFill>
                  <a:srgbClr val="9198A1"/>
                </a:solidFill>
                <a:latin typeface="Segoe UI"/>
              </a:rPr>
              <a:t> and RocksDB is only a disposable local copy, every failure recovers with </a:t>
            </a:r>
            <a:r>
              <a:rPr sz="1500" b="1" i="0">
                <a:solidFill>
                  <a:srgbClr val="E6EDF3"/>
                </a:solidFill>
                <a:latin typeface="Segoe UI"/>
              </a:rPr>
              <a:t>no data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246888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58A6FF"/>
                </a:solidFill>
                <a:latin typeface="Segoe UI"/>
              </a:rPr>
              <a:t>🖥️ App + RocksDB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329184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9198A1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75888" y="3108960"/>
            <a:ext cx="246888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8" y="324612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85149"/>
                </a:solidFill>
                <a:latin typeface="Segoe UI"/>
              </a:rPr>
              <a:t>💥 crash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329184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9198A1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28816" y="3108960"/>
            <a:ext cx="246888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324612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9F1C"/>
                </a:solidFill>
                <a:latin typeface="Segoe UI"/>
              </a:rPr>
              <a:t>▤ Topic survives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29184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9198A1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81744" y="3108960"/>
            <a:ext cx="246888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81744" y="324612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3FB950"/>
                </a:solidFill>
                <a:latin typeface="Segoe UI"/>
              </a:rPr>
              <a:t>♻️ App rebuilt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9198A1"/>
                </a:solidFill>
                <a:latin typeface="Segoe UI"/>
              </a:rPr>
              <a:t>The next 5 slides walk through each scenario individually.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12080"/>
            <a:ext cx="2180844" cy="457200"/>
          </a:xfrm>
          <a:prstGeom prst="roundRect">
            <a:avLst/>
          </a:prstGeom>
          <a:solidFill>
            <a:srgbClr val="1C2430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76088"/>
            <a:ext cx="21808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Segoe UI"/>
              </a:rPr>
              <a:t>💥 App / pod crashes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03804" y="5212080"/>
            <a:ext cx="1865376" cy="457200"/>
          </a:xfrm>
          <a:prstGeom prst="roundRect">
            <a:avLst/>
          </a:prstGeom>
          <a:solidFill>
            <a:srgbClr val="1C2430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03804" y="5276088"/>
            <a:ext cx="18653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Segoe UI"/>
              </a:rPr>
              <a:t>🗑️ RocksDB wiped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52060" y="5212080"/>
            <a:ext cx="2601468" cy="457200"/>
          </a:xfrm>
          <a:prstGeom prst="roundRect">
            <a:avLst/>
          </a:prstGeom>
          <a:solidFill>
            <a:srgbClr val="1C2430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52060" y="5276088"/>
            <a:ext cx="26014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Segoe UI"/>
              </a:rPr>
              <a:t>🔀 One of many pods dies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36408" y="5212080"/>
            <a:ext cx="2496312" cy="457200"/>
          </a:xfrm>
          <a:prstGeom prst="roundRect">
            <a:avLst/>
          </a:prstGeom>
          <a:solidFill>
            <a:srgbClr val="1C2430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5276088"/>
            <a:ext cx="24963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Segoe UI"/>
              </a:rPr>
              <a:t>🖥️ A Kafka broker dies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0" y="5212080"/>
            <a:ext cx="1970532" cy="457200"/>
          </a:xfrm>
          <a:prstGeom prst="roundRect">
            <a:avLst/>
          </a:prstGeom>
          <a:solidFill>
            <a:srgbClr val="1C2430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5276088"/>
            <a:ext cx="19705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Segoe UI"/>
              </a:rPr>
              <a:t>⚡ Crash mid-write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CRASH SCENARIO 1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E6EDF3"/>
                </a:solidFill>
                <a:latin typeface="Segoe UI"/>
              </a:rPr>
              <a:t>💥 App / pod crashes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029200" cy="4206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5029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0" b="1" i="0">
                <a:solidFill>
                  <a:srgbClr val="E6EDF3"/>
                </a:solidFill>
                <a:latin typeface="Segoe UI"/>
              </a:rPr>
              <a:t>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9198A1"/>
                </a:solidFill>
                <a:latin typeface="Segoe UI"/>
              </a:rPr>
              <a:t>(animated in the HTML version)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103120"/>
            <a:ext cx="5577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i="0">
                <a:solidFill>
                  <a:srgbClr val="E6A99A"/>
                </a:solidFill>
                <a:latin typeface="Segoe UI"/>
              </a:rPr>
              <a:t>What's lost:  </a:t>
            </a:r>
            <a:r>
              <a:rPr sz="1700" b="0" i="0">
                <a:solidFill>
                  <a:srgbClr val="9198A1"/>
                </a:solidFill>
                <a:latin typeface="Segoe UI"/>
              </a:rPr>
              <a:t>The pod's in-memory state and — if its disk is ephemeral — its RocksDB files.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657600"/>
            <a:ext cx="5577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i="0">
                <a:solidFill>
                  <a:srgbClr val="7EE2A8"/>
                </a:solidFill>
                <a:latin typeface="Segoe UI"/>
              </a:rPr>
              <a:t>Recovery:  </a:t>
            </a:r>
            <a:r>
              <a:rPr sz="1700" b="0" i="0">
                <a:solidFill>
                  <a:srgbClr val="9198A1"/>
                </a:solidFill>
                <a:latin typeface="Segoe UI"/>
              </a:rPr>
              <a:t>Restart the pod. Kafka Streams re-joins, replays the topic from the last checkpoint, and rebuilds RocksDB. Data returns intact.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5669280"/>
            <a:ext cx="5577840" cy="640080"/>
          </a:xfrm>
          <a:prstGeom prst="roundRect">
            <a:avLst/>
          </a:prstGeom>
          <a:solidFill>
            <a:srgbClr val="1C2430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5779008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3FB950"/>
                </a:solidFill>
                <a:latin typeface="Segoe UI"/>
              </a:rPr>
              <a:t>✓ verified: hard kill -9 + restart → all keys recovered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CRASH SCENARIO 2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E6EDF3"/>
                </a:solidFill>
                <a:latin typeface="Segoe UI"/>
              </a:rPr>
              <a:t>🗑️ RocksDB wiped / lost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029200" cy="4206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5029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0" b="1" i="0">
                <a:solidFill>
                  <a:srgbClr val="E6EDF3"/>
                </a:solidFill>
                <a:latin typeface="Segoe UI"/>
              </a:rPr>
              <a:t>🗑️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9198A1"/>
                </a:solidFill>
                <a:latin typeface="Segoe UI"/>
              </a:rPr>
              <a:t>(animated in the HTML version)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103120"/>
            <a:ext cx="5577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i="0">
                <a:solidFill>
                  <a:srgbClr val="E6A99A"/>
                </a:solidFill>
                <a:latin typeface="Segoe UI"/>
              </a:rPr>
              <a:t>What's lost:  </a:t>
            </a:r>
            <a:r>
              <a:rPr sz="1700" b="0" i="0">
                <a:solidFill>
                  <a:srgbClr val="9198A1"/>
                </a:solidFill>
                <a:latin typeface="Segoe UI"/>
              </a:rPr>
              <a:t>Only the local indexed copy — e.g. the disk was cleared or the node reprovisioned.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657600"/>
            <a:ext cx="5577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i="0">
                <a:solidFill>
                  <a:srgbClr val="7EE2A8"/>
                </a:solidFill>
                <a:latin typeface="Segoe UI"/>
              </a:rPr>
              <a:t>Recovery:  </a:t>
            </a:r>
            <a:r>
              <a:rPr sz="1700" b="0" i="0">
                <a:solidFill>
                  <a:srgbClr val="9198A1"/>
                </a:solidFill>
                <a:latin typeface="Segoe UI"/>
              </a:rPr>
              <a:t>On next startup the store is rebuilt entirely from the topic. The truth was never in RocksDB — it's just a cache.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5669280"/>
            <a:ext cx="5577840" cy="640080"/>
          </a:xfrm>
          <a:prstGeom prst="roundRect">
            <a:avLst/>
          </a:prstGeom>
          <a:solidFill>
            <a:srgbClr val="1C2430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5779008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3FB950"/>
                </a:solidFill>
                <a:latin typeface="Segoe UI"/>
              </a:rPr>
              <a:t>✓ verified: deleted the whole state dir + restart → data fully rebuilt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CRASH SCENARIO 3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E6EDF3"/>
                </a:solidFill>
                <a:latin typeface="Segoe UI"/>
              </a:rPr>
              <a:t>🔀 One of many pods dies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029200" cy="4206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5029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0" b="1" i="0">
                <a:solidFill>
                  <a:srgbClr val="E6EDF3"/>
                </a:solidFill>
                <a:latin typeface="Segoe UI"/>
              </a:rPr>
              <a:t>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9198A1"/>
                </a:solidFill>
                <a:latin typeface="Segoe UI"/>
              </a:rPr>
              <a:t>(animated in the HTML version)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103120"/>
            <a:ext cx="5577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i="0">
                <a:solidFill>
                  <a:srgbClr val="E6A99A"/>
                </a:solidFill>
                <a:latin typeface="Segoe UI"/>
              </a:rPr>
              <a:t>What's lost:  </a:t>
            </a:r>
            <a:r>
              <a:rPr sz="1700" b="0" i="0">
                <a:solidFill>
                  <a:srgbClr val="9198A1"/>
                </a:solidFill>
                <a:latin typeface="Segoe UI"/>
              </a:rPr>
              <a:t>The partitions that pod owned become temporarily unserved.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657600"/>
            <a:ext cx="5577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i="0">
                <a:solidFill>
                  <a:srgbClr val="7EE2A8"/>
                </a:solidFill>
                <a:latin typeface="Segoe UI"/>
              </a:rPr>
              <a:t>Recovery:  </a:t>
            </a:r>
            <a:r>
              <a:rPr sz="1700" b="0" i="0">
                <a:solidFill>
                  <a:srgbClr val="9198A1"/>
                </a:solidFill>
                <a:latin typeface="Segoe UI"/>
              </a:rPr>
              <a:t>A consumer-group rebalance reassigns those partitions to surviving pods, which rebuild that slice from the 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5669280"/>
            <a:ext cx="5577840" cy="640080"/>
          </a:xfrm>
          <a:prstGeom prst="roundRect">
            <a:avLst/>
          </a:prstGeom>
          <a:solidFill>
            <a:srgbClr val="1C2430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5779008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3FB950"/>
                </a:solidFill>
                <a:latin typeface="Segoe UI"/>
              </a:rPr>
              <a:t>optional standby replicas keep warm copies → near-instant failover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CRASH SCENARIO 4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E6EDF3"/>
                </a:solidFill>
                <a:latin typeface="Segoe UI"/>
              </a:rPr>
              <a:t>🖥️ A Kafka broker dies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029200" cy="4206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5029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0" b="1" i="0">
                <a:solidFill>
                  <a:srgbClr val="E6EDF3"/>
                </a:solidFill>
                <a:latin typeface="Segoe UI"/>
              </a:rP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9198A1"/>
                </a:solidFill>
                <a:latin typeface="Segoe UI"/>
              </a:rPr>
              <a:t>(animated in the HTML version)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103120"/>
            <a:ext cx="5577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i="0">
                <a:solidFill>
                  <a:srgbClr val="E6A99A"/>
                </a:solidFill>
                <a:latin typeface="Segoe UI"/>
              </a:rPr>
              <a:t>What's lost:  </a:t>
            </a:r>
            <a:r>
              <a:rPr sz="1700" b="0" i="0">
                <a:solidFill>
                  <a:srgbClr val="9198A1"/>
                </a:solidFill>
                <a:latin typeface="Segoe UI"/>
              </a:rPr>
              <a:t>Nothing served by that broker — provided replication factor &gt;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657600"/>
            <a:ext cx="5577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i="0">
                <a:solidFill>
                  <a:srgbClr val="7EE2A8"/>
                </a:solidFill>
                <a:latin typeface="Segoe UI"/>
              </a:rPr>
              <a:t>Recovery:  </a:t>
            </a:r>
            <a:r>
              <a:rPr sz="1700" b="0" i="0">
                <a:solidFill>
                  <a:srgbClr val="9198A1"/>
                </a:solidFill>
                <a:latin typeface="Segoe UI"/>
              </a:rPr>
              <a:t>A replica on another broker is automatically promoted to leader. The topic — the source of truth — stays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5669280"/>
            <a:ext cx="5577840" cy="640080"/>
          </a:xfrm>
          <a:prstGeom prst="roundRect">
            <a:avLst/>
          </a:prstGeom>
          <a:solidFill>
            <a:srgbClr val="1C2430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5779008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3FB950"/>
                </a:solidFill>
                <a:latin typeface="Segoe UI"/>
              </a:rPr>
              <a:t>requires replication factor ≥ 2 (our local demo ran a single broker, RF 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CRASH SCENARIO 5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E6EDF3"/>
                </a:solidFill>
                <a:latin typeface="Segoe UI"/>
              </a:rPr>
              <a:t>⚡ Crash mid-write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029200" cy="4206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5029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0" b="1" i="0">
                <a:solidFill>
                  <a:srgbClr val="E6EDF3"/>
                </a:solidFill>
                <a:latin typeface="Segoe UI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9198A1"/>
                </a:solidFill>
                <a:latin typeface="Segoe UI"/>
              </a:rPr>
              <a:t>(animated in the HTML version)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103120"/>
            <a:ext cx="5577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i="0">
                <a:solidFill>
                  <a:srgbClr val="E6A99A"/>
                </a:solidFill>
                <a:latin typeface="Segoe UI"/>
              </a:rPr>
              <a:t>What's lost:  </a:t>
            </a:r>
            <a:r>
              <a:rPr sz="1700" b="0" i="0">
                <a:solidFill>
                  <a:srgbClr val="9198A1"/>
                </a:solidFill>
                <a:latin typeface="Segoe UI"/>
              </a:rPr>
              <a:t>An unacknowledged write may or may not have landed on the broker.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657600"/>
            <a:ext cx="5577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i="0">
                <a:solidFill>
                  <a:srgbClr val="7EE2A8"/>
                </a:solidFill>
                <a:latin typeface="Segoe UI"/>
              </a:rPr>
              <a:t>Recovery:  </a:t>
            </a:r>
            <a:r>
              <a:rPr sz="1700" b="0" i="0">
                <a:solidFill>
                  <a:srgbClr val="9198A1"/>
                </a:solidFill>
                <a:latin typeface="Segoe UI"/>
              </a:rPr>
              <a:t>With acks=all a write is only 'done' once replicated. A failed send() is retried or surfaced as an error — never a silent partial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5669280"/>
            <a:ext cx="5577840" cy="640080"/>
          </a:xfrm>
          <a:prstGeom prst="roundRect">
            <a:avLst/>
          </a:prstGeom>
          <a:solidFill>
            <a:srgbClr val="1C2430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5779008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3FB950"/>
                </a:solidFill>
                <a:latin typeface="Segoe UI"/>
              </a:rPr>
              <a:t>synchronous send().get() + broker acknowledgement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THE OBVIOUS OBJECTION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E6EDF3"/>
                </a:solidFill>
                <a:latin typeface="Segoe UI"/>
              </a:rPr>
              <a:t>“If it's on disk, how is it fast?”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9198A1"/>
                </a:solidFill>
                <a:latin typeface="Segoe UI"/>
              </a:rPr>
              <a:t>Disk-based doesn't mean disk-speed. Both Kafka and RocksDB are engineered so the </a:t>
            </a:r>
            <a:r>
              <a:rPr sz="1400" b="1" i="0">
                <a:solidFill>
                  <a:srgbClr val="FF9F1C"/>
                </a:solidFill>
                <a:latin typeface="Segoe UI"/>
              </a:rPr>
              <a:t>hot path barely touches disk</a:t>
            </a:r>
            <a:r>
              <a:rPr sz="1400" b="0" i="0">
                <a:solidFill>
                  <a:srgbClr val="9198A1"/>
                </a:solidFill>
                <a:latin typeface="Segoe UI"/>
              </a:rPr>
              <a:t> — and reads never touch the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3520440" cy="1600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64261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E6EDF3"/>
                </a:solidFill>
                <a:latin typeface="Segoe UI"/>
              </a:rPr>
              <a:t>➡️ Sequential, not random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6324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9198A1"/>
                </a:solidFill>
                <a:latin typeface="Segoe UI"/>
              </a:rPr>
              <a:t>Kafka only appends to the end of a log file. Sequential I/O is orders of magnitude faster than random seeks.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514600"/>
            <a:ext cx="3520440" cy="1600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64261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E6EDF3"/>
                </a:solidFill>
                <a:latin typeface="Segoe UI"/>
              </a:rPr>
              <a:t>🧠 OS page cache = free 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06324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9198A1"/>
                </a:solidFill>
                <a:latin typeface="Segoe UI"/>
              </a:rPr>
              <a:t>Hot data stays in the OS page cache (RAM). Reads served from memory without Kafka managing a cache itself.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514600"/>
            <a:ext cx="3520440" cy="1600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64261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E6EDF3"/>
                </a:solidFill>
                <a:latin typeface="Segoe UI"/>
              </a:rPr>
              <a:t>💾 RocksDB hot data in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06324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9198A1"/>
                </a:solidFill>
                <a:latin typeface="Segoe UI"/>
              </a:rPr>
              <a:t>RocksDB has an in-memory block cache + memtable. Hot keys answered at memory speed; only cold keys hit SSD.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51960"/>
            <a:ext cx="3520440" cy="1600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37997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E6EDF3"/>
                </a:solidFill>
                <a:latin typeface="Segoe UI"/>
              </a:rPr>
              <a:t>🔌 No network hop on reads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80060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9198A1"/>
                </a:solidFill>
                <a:latin typeface="Segoe UI"/>
              </a:rPr>
              <a:t>get(key) is an in-process lookup. Redis always pays a network round-trip; here the data is already on the box.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4251960"/>
            <a:ext cx="3520440" cy="1600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37997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E6EDF3"/>
                </a:solidFill>
                <a:latin typeface="Segoe UI"/>
              </a:rPr>
              <a:t>📤 Zero-copy 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80060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9198A1"/>
                </a:solidFill>
                <a:latin typeface="Segoe UI"/>
              </a:rPr>
              <a:t>Kafka streams bytes straight from page cache to socket via sendfile() — skipping app copies. Little CPU per byte.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51960"/>
            <a:ext cx="3520440" cy="1600200"/>
          </a:xfrm>
          <a:prstGeom prst="roundRect">
            <a:avLst/>
          </a:prstGeom>
          <a:solidFill>
            <a:srgbClr val="211C1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37997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E6EDF3"/>
                </a:solidFill>
                <a:latin typeface="Segoe UI"/>
              </a:rPr>
              <a:t>⚖️ The honest bit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0060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9198A1"/>
                </a:solidFill>
                <a:latin typeface="Segoe UI"/>
              </a:rPr>
              <a:t>A cold key does hit disk — slower than Redis's always-RAM, but it's local SSD, not the network. Still crushes a DB query.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80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9F1C"/>
                </a:solidFill>
                <a:latin typeface="Segoe UI"/>
              </a:rPr>
              <a:t>Rule of thumb:  </a:t>
            </a:r>
            <a:r>
              <a:rPr sz="1300" b="0" i="0">
                <a:solidFill>
                  <a:srgbClr val="9198A1"/>
                </a:solidFill>
                <a:latin typeface="Segoe UI"/>
              </a:rPr>
              <a:t>hot data ≈ memory speed · cold data = one local disk read · reads never cross the network.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THE HONEST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E6EDF3"/>
                </a:solidFill>
                <a:latin typeface="Segoe UI"/>
              </a:rPr>
              <a:t>Trade-offs: Redis vs Kafka-as-cache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2743200" cy="402336"/>
          </a:xfrm>
          <a:prstGeom prst="roundRect">
            <a:avLst/>
          </a:prstGeom>
          <a:solidFill>
            <a:srgbClr val="1C2430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19656"/>
            <a:ext cx="2560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6EDF3"/>
                </a:solidFill>
                <a:latin typeface="Segoe UI"/>
              </a:rPr>
              <a:t>Dimension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783080"/>
            <a:ext cx="3931920" cy="402336"/>
          </a:xfrm>
          <a:prstGeom prst="roundRect">
            <a:avLst/>
          </a:prstGeom>
          <a:solidFill>
            <a:srgbClr val="1C2430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3008" y="1819656"/>
            <a:ext cx="374903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DB61A2"/>
                </a:solidFill>
                <a:latin typeface="Segoe UI"/>
              </a:rPr>
              <a:t>Redis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783080"/>
            <a:ext cx="4206240" cy="402336"/>
          </a:xfrm>
          <a:prstGeom prst="roundRect">
            <a:avLst/>
          </a:prstGeom>
          <a:solidFill>
            <a:srgbClr val="1C2430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1819656"/>
            <a:ext cx="402335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9F1C"/>
                </a:solidFill>
                <a:latin typeface="Segoe UI"/>
              </a:rPr>
              <a:t>Kafka-as-cache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85416"/>
            <a:ext cx="2743200" cy="402336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31136"/>
            <a:ext cx="2560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E6EDF3"/>
                </a:solidFill>
                <a:latin typeface="Segoe UI"/>
              </a:rPr>
              <a:t>Read 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185416"/>
            <a:ext cx="3931920" cy="402336"/>
          </a:xfrm>
          <a:prstGeom prst="roundRect">
            <a:avLst/>
          </a:prstGeom>
          <a:solidFill>
            <a:srgbClr val="122118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231136"/>
            <a:ext cx="374903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7EE2A8"/>
                </a:solidFill>
                <a:latin typeface="Segoe UI"/>
              </a:rPr>
              <a:t>Sub-ms, uniform (all RAM)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185416"/>
            <a:ext cx="4206240" cy="402336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7" y="2231136"/>
            <a:ext cx="402335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9198A1"/>
                </a:solidFill>
                <a:latin typeface="Segoe UI"/>
              </a:rPr>
              <a:t>Hot keys ≈ Redis (no network hop); cold = local disk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587752"/>
            <a:ext cx="2743200" cy="402336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633472"/>
            <a:ext cx="2560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E6EDF3"/>
                </a:solidFill>
                <a:latin typeface="Segoe UI"/>
              </a:rPr>
              <a:t>Write visibility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587752"/>
            <a:ext cx="3931920" cy="402336"/>
          </a:xfrm>
          <a:prstGeom prst="roundRect">
            <a:avLst/>
          </a:prstGeom>
          <a:solidFill>
            <a:srgbClr val="122118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2633472"/>
            <a:ext cx="374903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7EE2A8"/>
                </a:solidFill>
                <a:latin typeface="Segoe UI"/>
              </a:rPr>
              <a:t>Instant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587752"/>
            <a:ext cx="4206240" cy="402336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4927" y="2633472"/>
            <a:ext cx="402335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9198A1"/>
                </a:solidFill>
                <a:latin typeface="Segoe UI"/>
              </a:rPr>
              <a:t>Eventually consistent (topic → Streams → RocksDB)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990088"/>
            <a:ext cx="2743200" cy="402336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035808"/>
            <a:ext cx="2560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E6EDF3"/>
                </a:solidFill>
                <a:latin typeface="Segoe UI"/>
              </a:rPr>
              <a:t>Random-read throughput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2990088"/>
            <a:ext cx="3931920" cy="402336"/>
          </a:xfrm>
          <a:prstGeom prst="roundRect">
            <a:avLst/>
          </a:prstGeom>
          <a:solidFill>
            <a:srgbClr val="122118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3008" y="3035808"/>
            <a:ext cx="374903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7EE2A8"/>
                </a:solidFill>
                <a:latin typeface="Segoe UI"/>
              </a:rPr>
              <a:t>Millions/sec, purpose-built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2990088"/>
            <a:ext cx="4206240" cy="402336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4927" y="3035808"/>
            <a:ext cx="402335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9198A1"/>
                </a:solidFill>
                <a:latin typeface="Segoe UI"/>
              </a:rPr>
              <a:t>Good, not extreme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392424"/>
            <a:ext cx="2743200" cy="402336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438144"/>
            <a:ext cx="2560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E6EDF3"/>
                </a:solidFill>
                <a:latin typeface="Segoe UI"/>
              </a:rPr>
              <a:t>Durability &amp; replication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3392424"/>
            <a:ext cx="3931920" cy="402336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93008" y="3438144"/>
            <a:ext cx="374903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9198A1"/>
                </a:solidFill>
                <a:latin typeface="Segoe UI"/>
              </a:rPr>
              <a:t>Opt-in; can lose recent writes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3392424"/>
            <a:ext cx="4206240" cy="402336"/>
          </a:xfrm>
          <a:prstGeom prst="roundRect">
            <a:avLst/>
          </a:prstGeom>
          <a:solidFill>
            <a:srgbClr val="122118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24927" y="3438144"/>
            <a:ext cx="402335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7EE2A8"/>
                </a:solidFill>
                <a:latin typeface="Segoe UI"/>
              </a:rPr>
              <a:t>Built in — replicated log is source of truth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794760"/>
            <a:ext cx="2743200" cy="402336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3840480"/>
            <a:ext cx="2560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E6EDF3"/>
                </a:solidFill>
                <a:latin typeface="Segoe UI"/>
              </a:rPr>
              <a:t>Rich operations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80" y="3794760"/>
            <a:ext cx="3931920" cy="402336"/>
          </a:xfrm>
          <a:prstGeom prst="roundRect">
            <a:avLst/>
          </a:prstGeom>
          <a:solidFill>
            <a:srgbClr val="122118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93008" y="3840480"/>
            <a:ext cx="374903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7EE2A8"/>
                </a:solidFill>
                <a:latin typeface="Segoe UI"/>
              </a:rPr>
              <a:t>incr, sorted sets, TTL, pub/sub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3794760"/>
            <a:ext cx="4206240" cy="402336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24927" y="3840480"/>
            <a:ext cx="402335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9198A1"/>
                </a:solidFill>
                <a:latin typeface="Segoe UI"/>
              </a:rPr>
              <a:t>get / put / delete only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197096"/>
            <a:ext cx="2743200" cy="402336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4242816"/>
            <a:ext cx="2560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E6EDF3"/>
                </a:solidFill>
                <a:latin typeface="Segoe UI"/>
              </a:rPr>
              <a:t>Infrastructure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83280" y="4197096"/>
            <a:ext cx="3931920" cy="402336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93008" y="4242816"/>
            <a:ext cx="374903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9198A1"/>
                </a:solidFill>
                <a:latin typeface="Segoe UI"/>
              </a:rPr>
              <a:t>A separate cluster to run &amp; pay for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0" y="4197096"/>
            <a:ext cx="4206240" cy="402336"/>
          </a:xfrm>
          <a:prstGeom prst="roundRect">
            <a:avLst/>
          </a:prstGeom>
          <a:solidFill>
            <a:srgbClr val="122118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24927" y="4242816"/>
            <a:ext cx="402335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7EE2A8"/>
                </a:solidFill>
                <a:latin typeface="Segoe UI"/>
              </a:rPr>
              <a:t>None new — a library, if Kafka already runs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4599432"/>
            <a:ext cx="2743200" cy="402336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808" y="4645152"/>
            <a:ext cx="2560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E6EDF3"/>
                </a:solidFill>
                <a:latin typeface="Segoe UI"/>
              </a:rPr>
              <a:t>Crash resilience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83280" y="4599432"/>
            <a:ext cx="3931920" cy="402336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93008" y="4645152"/>
            <a:ext cx="374903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9198A1"/>
                </a:solidFill>
                <a:latin typeface="Segoe UI"/>
              </a:rPr>
              <a:t>Restore from snapshot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0" y="4599432"/>
            <a:ext cx="4206240" cy="402336"/>
          </a:xfrm>
          <a:prstGeom prst="roundRect">
            <a:avLst/>
          </a:prstGeom>
          <a:solidFill>
            <a:srgbClr val="122118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24927" y="4645152"/>
            <a:ext cx="402335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7EE2A8"/>
                </a:solidFill>
                <a:latin typeface="Segoe UI"/>
              </a:rPr>
              <a:t>Wipe RocksDB → rebuilds from topic (verified)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5138928"/>
            <a:ext cx="5349240" cy="868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5230368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DB61A2"/>
                </a:solidFill>
                <a:latin typeface="Segoe UI"/>
              </a:rPr>
              <a:t>Reach for Redis when…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 i="0">
                <a:solidFill>
                  <a:srgbClr val="9198A1"/>
                </a:solidFill>
                <a:latin typeface="Segoe UI"/>
              </a:rPr>
              <a:t>pure ephemeral caching, sub-ms uniform latency, high random-read rates, rich data structures.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72200" y="5138928"/>
            <a:ext cx="5349240" cy="868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80" y="5230368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FF9F1C"/>
                </a:solidFill>
                <a:latin typeface="Segoe UI"/>
              </a:rPr>
              <a:t>Reach for Kafka-as-cache when…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 i="0">
                <a:solidFill>
                  <a:srgbClr val="9198A1"/>
                </a:solidFill>
                <a:latin typeface="Segoe UI"/>
              </a:rPr>
              <a:t>you already run Kafka, want durability &amp; replication free, tolerate a small eventual-consistency window.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14476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9198A1"/>
                </a:solidFill>
                <a:latin typeface="Segoe UI"/>
              </a:rPr>
              <a:t>The point was never “never Redis” — it's </a:t>
            </a:r>
            <a:r>
              <a:rPr sz="1200" b="1" i="0">
                <a:solidFill>
                  <a:srgbClr val="E6EDF3"/>
                </a:solidFill>
                <a:latin typeface="Segoe UI"/>
              </a:rPr>
              <a:t>“not automatically Redis.”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